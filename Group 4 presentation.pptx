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</p:sldIdLst>
  <p:sldSz cx="9144000" cy="51435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E227EA-1604-4C0B-8FE8-49C014345B5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2d8ef8c368_1_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2d8ef8c368_1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2d8ef8c368_4_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2d8ef8c368_4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2d8ef8c368_4_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2d8ef8c368_4_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307f77e967_0_3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307f77e967_0_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307f77e967_0_4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307f77e967_0_4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2d8ef8c368_3_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2d8ef8c368_3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2d8ef8c368_3_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2d8ef8c368_3_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2d8ef8c368_3_1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2d8ef8c368_3_1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2d8ef8c368_3_2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2d8ef8c368_3_2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2fb8fb16d2_0_1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2fb8fb16d2_0_1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2d8ef8c368_3_2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2d8ef8c368_3_2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2fb8fb16d2_0_1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2fb8fb16d2_0_1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2fb8fb16d2_0_2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2fb8fb16d2_0_2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3085f039c8_0_1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3085f039c8_0_1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307f77e967_0_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307f77e967_0_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3085f039c8_0_2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3085f039c8_0_2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307f77e967_0_2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307f77e967_0_2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307f77e967_0_1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307f77e967_0_1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2fb8fb16d2_0_3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2fb8fb16d2_0_3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2fb8fb16d2_0_4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2fb8fb16d2_0_4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2fb8fb16d2_0_4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2fb8fb16d2_0_4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2fb8fb16d2_0_5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2fb8fb16d2_0_5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matchingName="Title and two columns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4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5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6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7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9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9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290150"/>
            <a:ext cx="8353200" cy="101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68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Parallel Computing for Real Time Data Stream Processing in Python</a:t>
            </a:r>
            <a:endParaRPr sz="2680" b="1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55" name="Google Shape;55;p13"/>
          <p:cNvSpPr txBox="1"/>
          <p:nvPr>
            <p:ph type="subTitle" idx="1"/>
          </p:nvPr>
        </p:nvSpPr>
        <p:spPr>
          <a:xfrm>
            <a:off x="311700" y="1411175"/>
            <a:ext cx="8520600" cy="354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 b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Presented By:</a:t>
            </a:r>
            <a:endParaRPr sz="2100" b="1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 panose="02020603050405020304"/>
              <a:buChar char="●"/>
            </a:pPr>
            <a:r>
              <a:rPr lang="en-GB" sz="21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Ms. Aakanksha Khawase</a:t>
            </a:r>
            <a:r>
              <a:rPr lang="en-US" altLang="en-GB" sz="21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(240840141001)</a:t>
            </a:r>
            <a:endParaRPr sz="21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 panose="02020603050405020304"/>
              <a:buChar char="●"/>
            </a:pPr>
            <a:r>
              <a:rPr lang="en-GB" sz="21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Mr. Atharv Ganer</a:t>
            </a:r>
            <a:r>
              <a:rPr lang="en-US" altLang="en-GB" sz="21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(240840141004)</a:t>
            </a:r>
            <a:endParaRPr lang="en-US" altLang="en-GB" sz="21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 panose="02020603050405020304"/>
              <a:buChar char="●"/>
            </a:pPr>
            <a:r>
              <a:rPr lang="en-GB" sz="21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Ms. Chaitali Ingale</a:t>
            </a:r>
            <a:r>
              <a:rPr lang="en-US" altLang="en-GB" sz="21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(240840141007)</a:t>
            </a:r>
            <a:endParaRPr sz="21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 panose="02020603050405020304"/>
              <a:buChar char="●"/>
            </a:pPr>
            <a:r>
              <a:rPr lang="en-GB" sz="21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Mr. Gurijala Jayanth Jennie Snehith</a:t>
            </a:r>
            <a:r>
              <a:rPr lang="en-US" altLang="en-GB" sz="21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(240840141025)</a:t>
            </a:r>
            <a:endParaRPr sz="21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 panose="02020603050405020304"/>
              <a:buChar char="●"/>
            </a:pPr>
            <a:r>
              <a:rPr lang="en-GB" sz="21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Mr. Mukund Waghmare</a:t>
            </a:r>
            <a:r>
              <a:rPr lang="en-US" altLang="en-GB" sz="21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(240840141026)</a:t>
            </a:r>
            <a:endParaRPr sz="21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 b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Project Guide: </a:t>
            </a:r>
            <a:r>
              <a:rPr lang="en-GB" sz="21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Dr.</a:t>
            </a:r>
            <a:r>
              <a:rPr lang="en-GB" sz="21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Nileshchandra Pikle</a:t>
            </a:r>
            <a:endParaRPr lang="en-GB" sz="21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GitHub URL: </a:t>
            </a:r>
            <a:r>
              <a:rPr lang="en-US" altLang="en-US" sz="20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https://github.com/HPCAP-GROUP4/Data-Stream-Processing-</a:t>
            </a:r>
            <a:endParaRPr lang="en-US" altLang="en-US" sz="20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5830750" y="1411175"/>
            <a:ext cx="2631900" cy="88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 b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Group No. : </a:t>
            </a:r>
            <a:r>
              <a:rPr lang="en-GB" sz="21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4</a:t>
            </a:r>
            <a:endParaRPr sz="21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body" idx="1"/>
          </p:nvPr>
        </p:nvSpPr>
        <p:spPr>
          <a:xfrm>
            <a:off x="311700" y="171450"/>
            <a:ext cx="8520600" cy="47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3100" b="1">
                <a:solidFill>
                  <a:schemeClr val="dk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  <a:sym typeface="Times New Roman" panose="02020603050405020304"/>
              </a:rPr>
              <a:t>Introduction</a:t>
            </a:r>
            <a:endParaRPr sz="3100" b="1">
              <a:solidFill>
                <a:schemeClr val="dk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  <a:sym typeface="Times New Roman" panose="02020603050405020304"/>
            </a:endParaRPr>
          </a:p>
          <a:p>
            <a:pPr marL="457200" lvl="0" indent="-3746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GB" sz="2300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Object detection is a crucial task in computer vision, used in applications like surveillance, autonomous driving, and medical imaging.</a:t>
            </a:r>
            <a:endParaRPr sz="2300"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GB" sz="2300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Faster R-CNN is one of the most accurate object detection models but suffers from high computational costs.</a:t>
            </a:r>
            <a:endParaRPr sz="2300"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GB" sz="2300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Our goal is to parallelize Faster R-CNN using </a:t>
            </a:r>
            <a:r>
              <a:rPr lang="en-GB" sz="2300" b="1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GPU</a:t>
            </a:r>
            <a:r>
              <a:rPr lang="en-GB" sz="2300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 to improve processing speed.</a:t>
            </a:r>
            <a:endParaRPr sz="2300"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2300"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3120" b="1">
                <a:latin typeface="Times New Roman" panose="02020603050405020304" charset="0"/>
                <a:cs typeface="Times New Roman" panose="02020603050405020304" charset="0"/>
              </a:rPr>
              <a:t>Problem Statement</a:t>
            </a:r>
            <a:endParaRPr sz="312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7" name="Google Shape;67;p15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• </a:t>
            </a:r>
            <a:r>
              <a:rPr lang="en-GB" sz="2300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Faster R-CNN suffers from high inference time, making real-time applications challenging.</a:t>
            </a:r>
            <a:endParaRPr sz="2300"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• </a:t>
            </a:r>
            <a:r>
              <a:rPr lang="en-GB" sz="2300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The low frame rate (FPS) limits usability in dynamic environments.</a:t>
            </a:r>
            <a:endParaRPr sz="2300"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2300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• Need for GPU-based optimization to enhance speed without compromising accuracy.</a:t>
            </a:r>
            <a:endParaRPr sz="2300"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74320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3320" b="1">
                <a:latin typeface="Times New Roman" panose="02020603050405020304" charset="0"/>
                <a:cs typeface="Times New Roman" panose="02020603050405020304" charset="0"/>
              </a:rPr>
              <a:t>Methodology</a:t>
            </a:r>
            <a:endParaRPr sz="332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3" name="Google Shape;73;p16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2300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1. Capture video frames using OpenCV.</a:t>
            </a:r>
            <a:endParaRPr sz="2300"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2300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2. Apply PyTorch acceleration to Faster R-CNN.</a:t>
            </a:r>
            <a:endParaRPr sz="2300"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2300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3. Process frames in parallel on GPU.</a:t>
            </a:r>
            <a:endParaRPr sz="2300"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2300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4. Draw bounding boxes and measure FPS.</a:t>
            </a:r>
            <a:endParaRPr sz="2300"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2300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5. Compare performance before and after optimization.</a:t>
            </a:r>
            <a:endParaRPr sz="2300"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861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74320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3320" b="1">
                <a:latin typeface="Times New Roman" panose="02020603050405020304" charset="0"/>
                <a:cs typeface="Times New Roman" panose="02020603050405020304" charset="0"/>
              </a:rPr>
              <a:t>Libraries Used</a:t>
            </a:r>
            <a:endParaRPr sz="332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79" name="Google Shape;79;p17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463325" y="658849"/>
            <a:ext cx="8217349" cy="298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7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704850" y="4364549"/>
            <a:ext cx="77343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37183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3320" b="1">
                <a:latin typeface="Times New Roman" panose="02020603050405020304" charset="0"/>
                <a:cs typeface="Times New Roman" panose="02020603050405020304" charset="0"/>
              </a:rPr>
              <a:t>Extra Library for YOLO</a:t>
            </a:r>
            <a:endParaRPr sz="3320" b="1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3176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3100" b="1">
                <a:latin typeface="Times New Roman" panose="02020603050405020304" charset="0"/>
                <a:cs typeface="Times New Roman" panose="02020603050405020304" charset="0"/>
              </a:rPr>
              <a:t>COCO Dataset</a:t>
            </a:r>
            <a:endParaRPr sz="3100" b="1">
              <a:solidFill>
                <a:schemeClr val="dk2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lvl="0" indent="0" algn="ctr" rtl="0">
              <a:spcBef>
                <a:spcPts val="1200"/>
              </a:spcBef>
              <a:spcAft>
                <a:spcPts val="0"/>
              </a:spcAft>
              <a:buSzPts val="990"/>
              <a:buNone/>
            </a:pPr>
            <a:endParaRPr sz="312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87" name="Google Shape;87;p18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602912" y="1068675"/>
            <a:ext cx="7938175" cy="3006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type="title"/>
          </p:nvPr>
        </p:nvSpPr>
        <p:spPr>
          <a:xfrm>
            <a:off x="1008100" y="3067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3100" b="1">
                <a:latin typeface="Times New Roman" panose="02020603050405020304" charset="0"/>
                <a:cs typeface="Times New Roman" panose="02020603050405020304" charset="0"/>
              </a:rPr>
              <a:t>Image For Testing and Object Detection</a:t>
            </a:r>
            <a:endParaRPr sz="3100" b="1">
              <a:solidFill>
                <a:schemeClr val="dk2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lvl="0" indent="0" algn="ctr" rtl="0">
              <a:spcBef>
                <a:spcPts val="1200"/>
              </a:spcBef>
              <a:spcAft>
                <a:spcPts val="0"/>
              </a:spcAft>
              <a:buSzPts val="990"/>
              <a:buNone/>
            </a:pPr>
            <a:endParaRPr sz="312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93" name="Google Shape;93;p19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1446725" y="1018925"/>
            <a:ext cx="6693626" cy="3917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0"/>
          <p:cNvSpPr txBox="1"/>
          <p:nvPr>
            <p:ph type="title"/>
          </p:nvPr>
        </p:nvSpPr>
        <p:spPr>
          <a:xfrm>
            <a:off x="-510450" y="245400"/>
            <a:ext cx="10164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 panose="020B0604020202020204"/>
              <a:buNone/>
            </a:pPr>
            <a:r>
              <a:rPr lang="en-GB" sz="2720" b="1">
                <a:latin typeface="Times New Roman" panose="02020603050405020304" charset="0"/>
                <a:cs typeface="Times New Roman" panose="02020603050405020304" charset="0"/>
              </a:rPr>
              <a:t>Processed Image After Testing And Object Detection</a:t>
            </a:r>
            <a:endParaRPr sz="272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endParaRPr sz="272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99" name="Google Shape;99;p20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773400" y="873700"/>
            <a:ext cx="7597200" cy="4086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/>
          <p:cNvSpPr txBox="1"/>
          <p:nvPr>
            <p:ph type="title"/>
          </p:nvPr>
        </p:nvSpPr>
        <p:spPr>
          <a:xfrm>
            <a:off x="0" y="705025"/>
            <a:ext cx="3007800" cy="335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Arial" panose="020B0604020202020204"/>
              <a:buNone/>
            </a:pPr>
            <a:r>
              <a:rPr lang="en-GB" sz="312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Faster R-CNN Object Detection with PyTorch: GPU-Accelerated Inference and Training</a:t>
            </a:r>
            <a:endParaRPr sz="3120" b="1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105" name="Google Shape;105;p21"/>
          <p:cNvPicPr preferRelativeResize="0"/>
          <p:nvPr/>
        </p:nvPicPr>
        <p:blipFill rotWithShape="1">
          <a:blip r:embed="rId1"/>
          <a:srcRect r="39426"/>
          <a:stretch>
            <a:fillRect/>
          </a:stretch>
        </p:blipFill>
        <p:spPr>
          <a:xfrm>
            <a:off x="3140825" y="188150"/>
            <a:ext cx="5879301" cy="4901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22"/>
          <p:cNvPicPr preferRelativeResize="0"/>
          <p:nvPr/>
        </p:nvPicPr>
        <p:blipFill rotWithShape="1">
          <a:blip r:embed="rId1"/>
          <a:srcRect r="42459"/>
          <a:stretch>
            <a:fillRect/>
          </a:stretch>
        </p:blipFill>
        <p:spPr>
          <a:xfrm>
            <a:off x="1799050" y="149575"/>
            <a:ext cx="6071201" cy="4844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3"/>
          <p:cNvSpPr txBox="1"/>
          <p:nvPr>
            <p:ph type="title"/>
          </p:nvPr>
        </p:nvSpPr>
        <p:spPr>
          <a:xfrm>
            <a:off x="311700" y="1162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3120" b="1">
                <a:latin typeface="Times New Roman" panose="02020603050405020304" charset="0"/>
                <a:cs typeface="Times New Roman" panose="02020603050405020304" charset="0"/>
              </a:rPr>
              <a:t>Video Rendering (CPU)</a:t>
            </a:r>
            <a:endParaRPr sz="312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116" name="Google Shape;116;p23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610375" y="688900"/>
            <a:ext cx="7923252" cy="425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4"/>
          <p:cNvSpPr txBox="1"/>
          <p:nvPr>
            <p:ph type="title"/>
          </p:nvPr>
        </p:nvSpPr>
        <p:spPr>
          <a:xfrm>
            <a:off x="311700" y="1162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3120" b="1">
                <a:latin typeface="Times New Roman" panose="02020603050405020304" charset="0"/>
                <a:cs typeface="Times New Roman" panose="02020603050405020304" charset="0"/>
              </a:rPr>
              <a:t>Video Rendering (GPU)</a:t>
            </a:r>
            <a:endParaRPr sz="312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122" name="Google Shape;122;p24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859600" y="688900"/>
            <a:ext cx="7818500" cy="4354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5"/>
          <p:cNvSpPr txBox="1"/>
          <p:nvPr>
            <p:ph type="title"/>
          </p:nvPr>
        </p:nvSpPr>
        <p:spPr>
          <a:xfrm>
            <a:off x="311700" y="1162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3120" b="1">
                <a:latin typeface="Times New Roman" panose="02020603050405020304" charset="0"/>
                <a:cs typeface="Times New Roman" panose="02020603050405020304" charset="0"/>
              </a:rPr>
              <a:t>Results For Serial Implementation</a:t>
            </a:r>
            <a:endParaRPr sz="312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128" name="Google Shape;128;p25"/>
          <p:cNvPicPr preferRelativeResize="0"/>
          <p:nvPr/>
        </p:nvPicPr>
        <p:blipFill rotWithShape="1">
          <a:blip r:embed="rId1"/>
          <a:srcRect t="58710"/>
          <a:stretch>
            <a:fillRect/>
          </a:stretch>
        </p:blipFill>
        <p:spPr>
          <a:xfrm>
            <a:off x="589975" y="873774"/>
            <a:ext cx="7964026" cy="3583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6"/>
          <p:cNvSpPr txBox="1"/>
          <p:nvPr>
            <p:ph type="title"/>
          </p:nvPr>
        </p:nvSpPr>
        <p:spPr>
          <a:xfrm>
            <a:off x="311700" y="1162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3120" b="1">
                <a:latin typeface="Times New Roman" panose="02020603050405020304" charset="0"/>
                <a:cs typeface="Times New Roman" panose="02020603050405020304" charset="0"/>
              </a:rPr>
              <a:t>Results For Parallel Implementation</a:t>
            </a:r>
            <a:endParaRPr sz="312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134" name="Google Shape;134;p26"/>
          <p:cNvPicPr preferRelativeResize="0"/>
          <p:nvPr/>
        </p:nvPicPr>
        <p:blipFill rotWithShape="1">
          <a:blip r:embed="rId1"/>
          <a:srcRect t="35905" r="7961"/>
          <a:stretch>
            <a:fillRect/>
          </a:stretch>
        </p:blipFill>
        <p:spPr>
          <a:xfrm>
            <a:off x="635538" y="1152663"/>
            <a:ext cx="7872927" cy="2838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7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3120" b="1">
                <a:latin typeface="Times New Roman" panose="02020603050405020304" charset="0"/>
                <a:cs typeface="Times New Roman" panose="02020603050405020304" charset="0"/>
              </a:rPr>
              <a:t>Batch Processing</a:t>
            </a:r>
            <a:endParaRPr sz="312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140" name="Google Shape;140;p27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311700" y="572700"/>
            <a:ext cx="8476825" cy="44881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8"/>
          <p:cNvSpPr txBox="1"/>
          <p:nvPr>
            <p:ph type="title"/>
          </p:nvPr>
        </p:nvSpPr>
        <p:spPr>
          <a:xfrm>
            <a:off x="100050" y="116200"/>
            <a:ext cx="8960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3120" b="1">
                <a:latin typeface="Times New Roman" panose="02020603050405020304" charset="0"/>
                <a:cs typeface="Times New Roman" panose="02020603050405020304" charset="0"/>
              </a:rPr>
              <a:t>Results For Batch Processing Implementation</a:t>
            </a:r>
            <a:endParaRPr sz="312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146" name="Google Shape;146;p28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360012" y="1105638"/>
            <a:ext cx="8423976" cy="2932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9"/>
          <p:cNvSpPr txBox="1"/>
          <p:nvPr>
            <p:ph type="title"/>
          </p:nvPr>
        </p:nvSpPr>
        <p:spPr>
          <a:xfrm>
            <a:off x="91950" y="2285400"/>
            <a:ext cx="8960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3120" b="1">
                <a:latin typeface="Times New Roman" panose="02020603050405020304" charset="0"/>
                <a:cs typeface="Times New Roman" panose="02020603050405020304" charset="0"/>
              </a:rPr>
              <a:t>Further Optimization</a:t>
            </a:r>
            <a:endParaRPr sz="312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3120" b="1">
                <a:latin typeface="Times New Roman" panose="02020603050405020304" charset="0"/>
                <a:cs typeface="Times New Roman" panose="02020603050405020304" charset="0"/>
              </a:rPr>
              <a:t>(Using YOLOv8)</a:t>
            </a:r>
            <a:endParaRPr sz="3120" b="1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0"/>
          <p:cNvSpPr txBox="1"/>
          <p:nvPr>
            <p:ph type="title"/>
          </p:nvPr>
        </p:nvSpPr>
        <p:spPr>
          <a:xfrm>
            <a:off x="311700" y="1162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3120" b="1">
                <a:latin typeface="Times New Roman" panose="02020603050405020304" charset="0"/>
                <a:cs typeface="Times New Roman" panose="02020603050405020304" charset="0"/>
              </a:rPr>
              <a:t>Video Rendering (GPU Using YOLO)</a:t>
            </a:r>
            <a:endParaRPr sz="312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157" name="Google Shape;157;p30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886088" y="688900"/>
            <a:ext cx="7371814" cy="4149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1"/>
          <p:cNvSpPr txBox="1"/>
          <p:nvPr>
            <p:ph type="title"/>
          </p:nvPr>
        </p:nvSpPr>
        <p:spPr>
          <a:xfrm>
            <a:off x="311700" y="1162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3120" b="1">
                <a:latin typeface="Times New Roman" panose="02020603050405020304" charset="0"/>
                <a:cs typeface="Times New Roman" panose="02020603050405020304" charset="0"/>
              </a:rPr>
              <a:t>Results For YOLO Implementation</a:t>
            </a:r>
            <a:endParaRPr sz="312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163" name="Google Shape;163;p31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152400" y="841300"/>
            <a:ext cx="8839199" cy="20798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31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152400" y="2997236"/>
            <a:ext cx="8839200" cy="1369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2"/>
          <p:cNvSpPr txBox="1"/>
          <p:nvPr>
            <p:ph type="title"/>
          </p:nvPr>
        </p:nvSpPr>
        <p:spPr>
          <a:xfrm>
            <a:off x="311700" y="1162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3120" b="1">
                <a:latin typeface="Times New Roman" panose="02020603050405020304" charset="0"/>
                <a:cs typeface="Times New Roman" panose="02020603050405020304" charset="0"/>
              </a:rPr>
              <a:t>Results Comparison:</a:t>
            </a:r>
            <a:endParaRPr sz="312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graphicFrame>
        <p:nvGraphicFramePr>
          <p:cNvPr id="170" name="Google Shape;170;p32"/>
          <p:cNvGraphicFramePr/>
          <p:nvPr/>
        </p:nvGraphicFramePr>
        <p:xfrm>
          <a:off x="879400" y="1581250"/>
          <a:ext cx="7312100" cy="3000000"/>
        </p:xfrm>
        <a:graphic>
          <a:graphicData uri="http://schemas.openxmlformats.org/drawingml/2006/table">
            <a:tbl>
              <a:tblPr>
                <a:noFill/>
                <a:tableStyleId>{FAE227EA-1604-4C0B-8FE8-49C014345B54}</a:tableStyleId>
              </a:tblPr>
              <a:tblGrid>
                <a:gridCol w="1882850"/>
                <a:gridCol w="1809750"/>
                <a:gridCol w="1809750"/>
                <a:gridCol w="1809750"/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b="1">
                          <a:solidFill>
                            <a:schemeClr val="dk1"/>
                          </a:solidFill>
                        </a:rPr>
                        <a:t>Implementation</a:t>
                      </a:r>
                      <a:endParaRPr lang="en-GB"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b="1">
                          <a:solidFill>
                            <a:schemeClr val="dk1"/>
                          </a:solidFill>
                        </a:rPr>
                        <a:t>Execution Time</a:t>
                      </a: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b="1">
                          <a:solidFill>
                            <a:schemeClr val="dk1"/>
                          </a:solidFill>
                        </a:rPr>
                        <a:t>Accuracy</a:t>
                      </a:r>
                      <a:endParaRPr lang="en-GB"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b="1">
                          <a:solidFill>
                            <a:schemeClr val="dk1"/>
                          </a:solidFill>
                        </a:rPr>
                        <a:t>Average FPS</a:t>
                      </a:r>
                      <a:endParaRPr lang="en-GB"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b="1">
                          <a:solidFill>
                            <a:schemeClr val="dk1"/>
                          </a:solidFill>
                        </a:rPr>
                        <a:t>Serial</a:t>
                      </a:r>
                      <a:endParaRPr lang="en-GB"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</a:rPr>
                        <a:t>3150 Seconds</a:t>
                      </a:r>
                      <a:endParaRPr lang="en-GB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</a:rPr>
                        <a:t>80% to 100%</a:t>
                      </a:r>
                      <a:endParaRPr lang="en-GB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</a:rPr>
                        <a:t>0</a:t>
                      </a:r>
                      <a:r>
                        <a:rPr lang="en-GB">
                          <a:solidFill>
                            <a:schemeClr val="dk1"/>
                          </a:solidFill>
                        </a:rPr>
                        <a:t>0.292 FPS</a:t>
                      </a:r>
                      <a:endParaRPr lang="en-GB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b="1">
                          <a:solidFill>
                            <a:schemeClr val="dk1"/>
                          </a:solidFill>
                        </a:rPr>
                        <a:t>Parallel</a:t>
                      </a:r>
                      <a:endParaRPr lang="en-GB"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</a:rPr>
                        <a:t>290   Seconds</a:t>
                      </a:r>
                      <a:endParaRPr lang="en-GB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</a:rPr>
                        <a:t>80% to 100%</a:t>
                      </a:r>
                      <a:endParaRPr lang="en-GB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</a:rPr>
                        <a:t>0</a:t>
                      </a:r>
                      <a:r>
                        <a:rPr lang="en-GB">
                          <a:solidFill>
                            <a:schemeClr val="dk1"/>
                          </a:solidFill>
                        </a:rPr>
                        <a:t>3.176 FPS</a:t>
                      </a:r>
                      <a:endParaRPr lang="en-GB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b="1"/>
                        <a:t>Batch Processing</a:t>
                      </a: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296   Seconds</a:t>
                      </a:r>
                      <a:endParaRPr lang="en-GB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</a:rPr>
                        <a:t>80% to 100%</a:t>
                      </a:r>
                      <a:endParaRPr lang="en-GB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00.840 FPS</a:t>
                      </a:r>
                      <a:endParaRPr lang="en-GB"/>
                    </a:p>
                  </a:txBody>
                  <a:tcPr marL="91425" marR="91425" marT="91425" marB="91425"/>
                </a:tc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b="1"/>
                        <a:t>YOLO </a:t>
                      </a: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058   Seconds</a:t>
                      </a:r>
                      <a:endParaRPr lang="en-GB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70% to 90%</a:t>
                      </a:r>
                      <a:endParaRPr lang="en-GB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31.215 FPS</a:t>
                      </a:r>
                      <a:endParaRPr lang="en-GB"/>
                    </a:p>
                  </a:txBody>
                  <a:tcPr marL="91425" marR="91425" marT="91425" marB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3"/>
          <p:cNvSpPr txBox="1"/>
          <p:nvPr>
            <p:ph type="title"/>
          </p:nvPr>
        </p:nvSpPr>
        <p:spPr>
          <a:xfrm>
            <a:off x="311700" y="2358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3120" b="1">
                <a:latin typeface="Times New Roman" panose="02020603050405020304" charset="0"/>
                <a:cs typeface="Times New Roman" panose="02020603050405020304" charset="0"/>
              </a:rPr>
              <a:t>Conclusion</a:t>
            </a:r>
            <a:endParaRPr sz="312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76" name="Google Shape;176;p33"/>
          <p:cNvSpPr txBox="1"/>
          <p:nvPr/>
        </p:nvSpPr>
        <p:spPr>
          <a:xfrm>
            <a:off x="471300" y="1348050"/>
            <a:ext cx="8201400" cy="24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Faster R-CNN is a powerful, accurate, and widely-used object detection model that significantly improved object detection performance by introducing the </a:t>
            </a:r>
            <a:r>
              <a:rPr lang="en-GB" sz="2100" b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Region Proposal Network (RPN)</a:t>
            </a:r>
            <a:r>
              <a:rPr lang="en-GB" sz="21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. While it remains a top choice for applications requiring </a:t>
            </a:r>
            <a:r>
              <a:rPr lang="en-GB" sz="2100" b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high accuracy</a:t>
            </a:r>
            <a:r>
              <a:rPr lang="en-GB" sz="21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, it is </a:t>
            </a:r>
            <a:r>
              <a:rPr lang="en-GB" sz="2100" b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not ideal for real-time applications</a:t>
            </a:r>
            <a:r>
              <a:rPr lang="en-GB" sz="21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due to its computational cost. However, it continues to serve as a benchmark for future advancements in deep learning-based object detection.</a:t>
            </a:r>
            <a:endParaRPr sz="210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4"/>
          <p:cNvSpPr txBox="1"/>
          <p:nvPr>
            <p:ph type="title"/>
          </p:nvPr>
        </p:nvSpPr>
        <p:spPr>
          <a:xfrm>
            <a:off x="311700" y="1162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3120" b="1">
                <a:latin typeface="Times New Roman" panose="02020603050405020304" charset="0"/>
                <a:cs typeface="Times New Roman" panose="02020603050405020304" charset="0"/>
              </a:rPr>
              <a:t>Application of Project</a:t>
            </a:r>
            <a:endParaRPr sz="312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82" name="Google Shape;182;p34"/>
          <p:cNvSpPr txBox="1"/>
          <p:nvPr/>
        </p:nvSpPr>
        <p:spPr>
          <a:xfrm>
            <a:off x="2162250" y="1500650"/>
            <a:ext cx="4819500" cy="19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 panose="02020603050405020304"/>
              <a:buChar char="●"/>
            </a:pPr>
            <a:r>
              <a:rPr lang="en-GB" sz="2100" b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Autonomous Vehicles</a:t>
            </a:r>
            <a:endParaRPr sz="21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 panose="02020603050405020304"/>
              <a:buChar char="●"/>
            </a:pPr>
            <a:r>
              <a:rPr lang="en-GB" sz="2100" b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Medical Imaging</a:t>
            </a:r>
            <a:r>
              <a:rPr lang="en-GB" sz="21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endParaRPr sz="21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 panose="02020603050405020304"/>
              <a:buChar char="●"/>
            </a:pPr>
            <a:r>
              <a:rPr lang="en-GB" sz="2100" b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Security &amp; Surveillance</a:t>
            </a:r>
            <a:r>
              <a:rPr lang="en-GB" sz="21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endParaRPr sz="21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 panose="02020603050405020304"/>
              <a:buChar char="●"/>
            </a:pPr>
            <a:r>
              <a:rPr lang="en-GB" sz="2100" b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Agriculture</a:t>
            </a:r>
            <a:r>
              <a:rPr lang="en-GB" sz="21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endParaRPr sz="21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 panose="02020603050405020304"/>
              <a:buChar char="●"/>
            </a:pPr>
            <a:r>
              <a:rPr lang="en-GB" sz="2100" b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Retail &amp; Inventory Management</a:t>
            </a:r>
            <a:r>
              <a:rPr lang="en-GB" sz="21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endParaRPr sz="2100" b="1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5"/>
          <p:cNvSpPr txBox="1"/>
          <p:nvPr>
            <p:ph type="title"/>
          </p:nvPr>
        </p:nvSpPr>
        <p:spPr>
          <a:xfrm>
            <a:off x="311700" y="22854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3120" b="1">
                <a:latin typeface="Times New Roman" panose="02020603050405020304" charset="0"/>
                <a:cs typeface="Times New Roman" panose="02020603050405020304" charset="0"/>
              </a:rPr>
              <a:t>Thank You</a:t>
            </a:r>
            <a:endParaRPr sz="3120" b="1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2489</Words>
  <Application>WPS Presentation</Application>
  <PresentationFormat/>
  <Paragraphs>127</Paragraphs>
  <Slides>23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3" baseType="lpstr">
      <vt:lpstr>Arial</vt:lpstr>
      <vt:lpstr>SimSun</vt:lpstr>
      <vt:lpstr>Wingdings</vt:lpstr>
      <vt:lpstr>Arial</vt:lpstr>
      <vt:lpstr>Times New Roman</vt:lpstr>
      <vt:lpstr>Microsoft YaHei</vt:lpstr>
      <vt:lpstr>Arial Unicode MS</vt:lpstr>
      <vt:lpstr>Impact</vt:lpstr>
      <vt:lpstr>Times New Roman</vt:lpstr>
      <vt:lpstr>Simple Light</vt:lpstr>
      <vt:lpstr>Parallel Computing for Real Time Data Stream Processing in Python</vt:lpstr>
      <vt:lpstr>PowerPoint 演示文稿</vt:lpstr>
      <vt:lpstr>Problem Statement</vt:lpstr>
      <vt:lpstr>Methodology</vt:lpstr>
      <vt:lpstr>Extra Library for YOLO</vt:lpstr>
      <vt:lpstr>COCO Dataset</vt:lpstr>
      <vt:lpstr>Image For Testing and Object Detection</vt:lpstr>
      <vt:lpstr>Processed Image After Testing And Object Detection</vt:lpstr>
      <vt:lpstr>Faster R-CNN Object Detection with PyTorch: GPU-Accelerated Inference and Training</vt:lpstr>
      <vt:lpstr>PowerPoint 演示文稿</vt:lpstr>
      <vt:lpstr>Video Rendering (CPU)</vt:lpstr>
      <vt:lpstr>Video Rendering (GPU)</vt:lpstr>
      <vt:lpstr>Results For Serial Implementation</vt:lpstr>
      <vt:lpstr>Results For Parallel Implementation</vt:lpstr>
      <vt:lpstr>Batch Processing</vt:lpstr>
      <vt:lpstr>Results For Batch Processing Implementation</vt:lpstr>
      <vt:lpstr>(Using YOLOv8)</vt:lpstr>
      <vt:lpstr>Video Rendering (GPU Using YOLO)</vt:lpstr>
      <vt:lpstr>Results For YOLO Implementation</vt:lpstr>
      <vt:lpstr>Results Comparison:</vt:lpstr>
      <vt:lpstr>Conclusion</vt:lpstr>
      <vt:lpstr>Application of Project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Parallel Computing for Real Time Data Stream Processing in Python</dc:title>
  <dc:creator/>
  <cp:lastModifiedBy>Atharv</cp:lastModifiedBy>
  <cp:revision>3</cp:revision>
  <dcterms:created xsi:type="dcterms:W3CDTF">2025-02-11T08:57:39Z</dcterms:created>
  <dcterms:modified xsi:type="dcterms:W3CDTF">2025-02-11T12:04:32Z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3DB48EC77FC249C08D5F3FE92100E1B1_12</vt:lpwstr>
  </property>
  <property fmtid="{D5CDD505-2E9C-101B-9397-08002B2CF9AE}" pid="3" name="KSOProductBuildVer">
    <vt:lpwstr>1033-12.2.0.19805</vt:lpwstr>
  </property>
</Properties>
</file>